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Nowi lekarze / kwartał</c:v>
                </c:pt>
              </c:strCache>
            </c:strRef>
          </c:tx>
          <c:spPr>
            <a:solidFill>
              <a:srgbClr val="2E35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Q3'24</c:v>
                  </c:pt>
                  <c:pt idx="1">
                    <c:v>Q4'24</c:v>
                  </c:pt>
                  <c:pt idx="2">
                    <c:v>Q1'25</c:v>
                  </c:pt>
                  <c:pt idx="3">
                    <c:v>Q2'25</c:v>
                  </c:pt>
                  <c:pt idx="4">
                    <c:v>Q3'25</c:v>
                  </c:pt>
                  <c:pt idx="5">
                    <c:v>Q4'25</c:v>
                  </c:pt>
                  <c:pt idx="6">
                    <c:v>Q1'26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2100</c:v>
                </c:pt>
                <c:pt idx="1">
                  <c:v>1500</c:v>
                </c:pt>
                <c:pt idx="2">
                  <c:v>1700</c:v>
                </c:pt>
                <c:pt idx="3">
                  <c:v>1250</c:v>
                </c:pt>
                <c:pt idx="4">
                  <c:v>1600</c:v>
                </c:pt>
                <c:pt idx="5">
                  <c:v>1400</c:v>
                </c:pt>
                <c:pt idx="6">
                  <c:v>810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35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91440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E3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Coverage Rate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Metryka Growth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40480" y="3840480"/>
            <a:ext cx="1463040" cy="27432"/>
          </a:xfrm>
          <a:prstGeom prst="rect">
            <a:avLst/>
          </a:prstGeom>
          <a:solidFill>
            <a:srgbClr val="2E35FF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Remedium.md  |  Marzec 2026  |  Zarząd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E35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Czym jest SCR?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234440"/>
          </a:xfrm>
          <a:prstGeom prst="rect">
            <a:avLst/>
          </a:prstGeom>
          <a:solidFill>
            <a:srgbClr val="F0F1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  =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194560" y="1097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Zarejestrowani lekarze w Remedium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94560" y="1508760"/>
            <a:ext cx="502920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15727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Adresowalny rynek (NIL)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0" y="1188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23760" y="14630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3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33.9%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54864" cy="457200"/>
          </a:xfrm>
          <a:prstGeom prst="rect">
            <a:avLst/>
          </a:prstGeom>
          <a:solidFill>
            <a:srgbClr val="2E35F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Jednoznaczna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468880" y="25146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 formuła, jedno źródło danych (PostHog + NIL). Nie wymaga interpretacji.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54864" cy="457200"/>
          </a:xfrm>
          <a:prstGeom prst="rect">
            <a:avLst/>
          </a:prstGeom>
          <a:solidFill>
            <a:srgbClr val="2E35F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108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Mierzalna kwartalnie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468880" y="31089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 zmienia się o 1–2 pp na kwartał. Cel: 37% (2026) → 42–43% (2027).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54864" cy="457200"/>
          </a:xfrm>
          <a:prstGeom prst="rect">
            <a:avLst/>
          </a:prstGeom>
          <a:solidFill>
            <a:srgbClr val="2E35F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703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468880" y="37033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wie dokładnie co robić: pozyskać więcej lekarzy w specjalizacjach, które mają budżet sprzedażowy.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E35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≠ Product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Jasny podział odpowiedzialności. Żadnego konfliktu metryk.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86200" cy="3200400"/>
          </a:xfrm>
          <a:prstGeom prst="rect">
            <a:avLst/>
          </a:prstGeom>
          <a:solidFill>
            <a:srgbClr val="F0F1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3886200" cy="502920"/>
          </a:xfrm>
          <a:prstGeom prst="rect">
            <a:avLst/>
          </a:prstGeom>
          <a:solidFill>
            <a:srgbClr val="2E35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(Sebastian)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Penetracja rynku</a:t>
            </a:r>
            <a:endParaRPr lang="en-US" sz="1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880360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2834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Akwizycja nowych lekarzy</a:t>
            </a:r>
            <a:endParaRPr lang="en-US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64408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32186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i aktywacja</a:t>
            </a:r>
            <a:endParaRPr lang="en-US" sz="13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48456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36027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awareness</a:t>
            </a:r>
            <a:endParaRPr lang="en-US" sz="13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32504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51560" y="398678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Re-engagement uśpionych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4800600" y="1371600"/>
            <a:ext cx="3886200" cy="320040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800600" y="1371600"/>
            <a:ext cx="3886200" cy="50292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20" name="Text 14"/>
          <p:cNvSpPr/>
          <p:nvPr/>
        </p:nvSpPr>
        <p:spPr>
          <a:xfrm>
            <a:off x="4983480" y="13716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(Krzysztof)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4983480" y="20116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DAU / WAU</a:t>
            </a:r>
            <a:endParaRPr lang="en-US" sz="2800" dirty="0"/>
          </a:p>
        </p:txBody>
      </p:sp>
      <p:sp>
        <p:nvSpPr>
          <p:cNvPr id="22" name="Text 16"/>
          <p:cNvSpPr/>
          <p:nvPr/>
        </p:nvSpPr>
        <p:spPr>
          <a:xfrm>
            <a:off x="4983480" y="24688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Aktywność i retencja</a:t>
            </a:r>
            <a:endParaRPr lang="en-US" sz="14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2880360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94960" y="2834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Częstotliwość użycia</a:t>
            </a:r>
            <a:endParaRPr lang="en-US" sz="13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264408"/>
            <a:ext cx="201168" cy="20116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394960" y="32186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Głębokość sesji</a:t>
            </a:r>
            <a:endParaRPr lang="en-US" sz="13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3648456"/>
            <a:ext cx="201168" cy="20116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394960" y="36027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adoption</a:t>
            </a:r>
            <a:endParaRPr lang="en-US" sz="13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4032504"/>
            <a:ext cx="201168" cy="20116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394960" y="398678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Retencja 30/60/90d</a:t>
            </a:r>
            <a:endParaRPr lang="en-US" sz="130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07408" y="2697480"/>
            <a:ext cx="329184" cy="329184"/>
          </a:xfrm>
          <a:prstGeom prst="rect">
            <a:avLst/>
          </a:prstGeom>
        </p:spPr>
      </p:pic>
      <p:sp>
        <p:nvSpPr>
          <p:cNvPr id="32" name="Shape 21"/>
          <p:cNvSpPr/>
          <p:nvPr/>
        </p:nvSpPr>
        <p:spPr>
          <a:xfrm>
            <a:off x="2286000" y="4663440"/>
            <a:ext cx="4572000" cy="365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3" name="Text 22"/>
          <p:cNvSpPr/>
          <p:nvPr/>
        </p:nvSpPr>
        <p:spPr>
          <a:xfrm>
            <a:off x="228600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metric: Activation Rate (powrót w 7d) — wspólny KPI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E35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Punkt przekazania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użytkownik przechodzi od Growth do Product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828800" cy="1645920"/>
          </a:xfrm>
          <a:prstGeom prst="rect">
            <a:avLst/>
          </a:prstGeom>
          <a:solidFill>
            <a:srgbClr val="2E35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Rejestracja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pozyskuje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lekarza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920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788920" y="1463040"/>
            <a:ext cx="1828800" cy="1645920"/>
          </a:xfrm>
          <a:prstGeom prst="rect">
            <a:avLst/>
          </a:prstGeom>
          <a:solidFill>
            <a:srgbClr val="2E35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88920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926080" y="20574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aktywuje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(pierwsze 7 dni)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1920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937760" y="1463040"/>
            <a:ext cx="1828800" cy="16459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Value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074920" y="20574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Lekarz odkrywa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kluczowe narzędzie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66560" y="1920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086600" y="1463040"/>
            <a:ext cx="1828800" cy="1645920"/>
          </a:xfrm>
          <a:prstGeom prst="rect">
            <a:avLst/>
          </a:prstGeom>
          <a:solidFill>
            <a:srgbClr val="37415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86600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Retencja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223760" y="20574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przejmuje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DAU/habit loop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337560"/>
            <a:ext cx="786384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228600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Rate — tu mierzymy jakość przekazania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8229600" cy="914400"/>
          </a:xfrm>
          <a:prstGeom prst="rect">
            <a:avLst/>
          </a:prstGeom>
          <a:solidFill>
            <a:srgbClr val="F0F1F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977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Growth dostarcza lekarzy do ekosystemu. 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buduje nawyk. Punkt przekazania to moment, w którym lekarz samodzielnie wraca — bez pushów, bez kampanii. Activation Rate (powrót w 7 dni od rejestracji) to metryka, po której widzimy, czy przekazanie działa.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E35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 obecny: marzec 2026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20116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560320" cy="54864"/>
          </a:xfrm>
          <a:prstGeom prst="rect">
            <a:avLst/>
          </a:prstGeom>
          <a:solidFill>
            <a:srgbClr val="2E35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3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33.9%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 baseline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44,085 / 130,000 lekarzy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560320" cy="20116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97280"/>
            <a:ext cx="25603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325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20,627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9184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 lekarzy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377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46.8% bazy aktywnych (30d)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560320" cy="20116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97280"/>
            <a:ext cx="2560320" cy="5486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325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~3,200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2648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 lekarzy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2377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Dzień roboczy, śr.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bazy lekarzy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03320"/>
          <a:ext cx="8229600" cy="118872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914400"/>
                <a:gridCol w="420624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Liczba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bazy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Implikacja dla Growth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Bez specjalizacji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18,858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Największy segment — potrzebuje danych o specjalizacji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Specjaliści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11,282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Baza pod kampanie specjalistyczne pharma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Rezydenci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8,831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Przyszli specjaliści —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Stażyści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Organiczny napływ z uczelni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Trend: spadek rejestracji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005840"/>
            <a:ext cx="3108960" cy="274320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Diagnoza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0" y="1508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Q1 2026: 810 nowych = historyczne minimum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0" y="20391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Organika wyczerpuje się (rynek skończony)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0" y="256946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Segment POZ wymaga aktywnych kampanii, nie organiki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0" y="309981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Brak akwizycji na bottleneck specjalizacjach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" y="3977640"/>
            <a:ext cx="54864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40233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To nie porażka — to naturalny koniec fazy organicznego wzrostu.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Mamy dopiero 34% penetracji. Pytanie: czy przechodzimy do aktywnej akwizycji, czy akceptujemy plateau?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E35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Dwa scenariusze: 2026–2027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3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= rok budowania maszyny akwizycyjnej  |  2027 = rok żniw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886200" cy="333756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3886200" cy="50292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(minimum)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37.0%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46888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 koniec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41.8%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468880" y="2560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 koniec 2027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35204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004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lekarzy / miesiąc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5204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Powrót do udowodnionego tempa z 2025.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Aktywne kampanie zamiast czekania na organikę.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Sprzedawalne specjalizacje: 8–9.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1325880"/>
            <a:ext cx="3886200" cy="3337560"/>
          </a:xfrm>
          <a:prstGeom prst="rect">
            <a:avLst/>
          </a:prstGeom>
          <a:solidFill>
            <a:srgbClr val="F0F1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325880"/>
            <a:ext cx="3886200" cy="502920"/>
          </a:xfrm>
          <a:prstGeom prst="rect">
            <a:avLst/>
          </a:prstGeom>
          <a:solidFill>
            <a:srgbClr val="2E35FF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13258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(ambicja)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8348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3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37.7%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81228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 koniec 2026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2514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3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44.3%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812280" y="2560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 koniec 2027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83480" y="3108960"/>
            <a:ext cx="35204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2004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~700 lekarzy / miesiąc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35204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+ brand awareness, SEO, jakość produktu.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Word-of-mouth jako główny driver wzrostu.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Sprzedawalne specjalizacje: 10–12.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 scenariusze zakładają: 2026 to rok inwestycji w maszynę akwizycyjną. Efekty w 2027.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35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Jedno zdanie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1920240"/>
            <a:ext cx="7315200" cy="2194560"/>
          </a:xfrm>
          <a:prstGeom prst="rect">
            <a:avLst/>
          </a:prstGeom>
          <a:solidFill>
            <a:srgbClr val="2A2A42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210312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mierzy SCR — jaki procent polskich lekarzy jest zarejestrowany w Remedium. Dziś to 33.9% (44 tys. z 130 tys.). 2026 to rok budowania maszyny akwizycyjnej (cel: 37%), 2027 to rok żniw (cel: 42–43%). Każdy punkt procentowy SCR to więcej specjalizacji, które możemy sprzedawać pharma.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Sebastian Scencyk  |  VP Growth &amp; Board Member  |  Marzec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 — North Star Metryka Growth</dc:title>
  <dc:subject>PptxGenJS Presentation</dc:subject>
  <dc:creator>Sebastian Scencyk</dc:creator>
  <cp:lastModifiedBy>Sebastian Scencyk</cp:lastModifiedBy>
  <cp:revision>1</cp:revision>
  <dcterms:created xsi:type="dcterms:W3CDTF">2026-03-23T07:30:35Z</dcterms:created>
  <dcterms:modified xsi:type="dcterms:W3CDTF">2026-03-23T07:30:35Z</dcterms:modified>
</cp:coreProperties>
</file>